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1148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Yu Gothic"/>
              </a:defRPr>
            </a:pPr>
            <a:r>
              <a:t>一緒にランチ行きましょう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EDD5"/>
                </a:solidFill>
                <a:latin typeface="Yu Gothic"/>
              </a:defRPr>
            </a:pPr>
            <a:r>
              <a:t>ユーザーマニュアル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B4"/>
                </a:solidFill>
                <a:latin typeface="Yu Gothic"/>
              </a:defRPr>
            </a:pPr>
            <a:r>
              <a:t>社内ランチマッチングアプリ 利用ガイド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URL: https://main.dkcmgnfwojthr.amplifyapp.com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Yu Gothic"/>
              </a:defRPr>
            </a:pPr>
            <a:r>
              <a:t>2026年3月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アプリの使い方を順番にご説明します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46304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アカウント登録・ログイン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01168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はじめての方へ（チュートリアル）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56032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06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さがす（スワイプ）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108959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5467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フィルター機能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65760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マッチ＆トーク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20624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お相手から（いいね一覧）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754879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80059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マイページ・プロフィール編集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30352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スワイプ上限＆パッケージ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852160"/>
            <a:ext cx="4572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897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管理者ダッシュボード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01 アカウント登録・ログイン</a:t>
            </a:r>
          </a:p>
        </p:txBody>
      </p:sp>
      <p:pic>
        <p:nvPicPr>
          <p:cNvPr id="4" name="Picture 3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pic>
        <p:nvPicPr>
          <p:cNvPr id="5" name="Picture 4" descr="01b_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097280"/>
            <a:ext cx="245067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Yu Gothic"/>
              </a:defRPr>
            </a:pPr>
            <a:r>
              <a:t>初回利用（アカウント作成）</a:t>
            </a:r>
          </a:p>
        </p:txBody>
      </p:sp>
      <p:sp>
        <p:nvSpPr>
          <p:cNvPr id="7" name="Oval 6"/>
          <p:cNvSpPr/>
          <p:nvPr/>
        </p:nvSpPr>
        <p:spPr>
          <a:xfrm>
            <a:off x="5943600" y="184708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「Create Account」タブをタップ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2194560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7627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会社のメールアドレスを入力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2542032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52374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パスワードを設定（8文字以上、大小英数+記号）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889504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71216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メールに届く確認コードを入力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3236976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1868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アカウント作成完了！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Yu Gothic"/>
              </a:defRPr>
            </a:pPr>
            <a:r>
              <a:t>2回目以降のログイン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0" y="422452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20624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「Sign In」タブを選択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0" y="4572000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5371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メールアドレスとパスワードを入力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4919472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0118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「Sign in」ボタンをタップ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5486400"/>
            <a:ext cx="5486400" cy="54864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555955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2400E"/>
                </a:solidFill>
                <a:latin typeface="Yu Gothic"/>
              </a:defRPr>
            </a:pPr>
            <a:r>
              <a:t>💡 パスワードを忘れた場合は「Forgot your password?」から再設定できます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02 はじめての方へ（チュートリアル）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初めてスワイプ画面を開くと表示されるガイドです</a:t>
            </a:r>
          </a:p>
        </p:txBody>
      </p:sp>
      <p:pic>
        <p:nvPicPr>
          <p:cNvPr id="5" name="Picture 4" descr="02_after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チュートリアルの内容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11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❤️ 右スワイプ → いいかも！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3172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気になる相手を右にスワイプ、またはハートボタンを押してください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889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✕ 左スワイプ → また今度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1089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今回はパスしたい相手を左にスワイプ、または✕ボタンを押してください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566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🎉 お互いOKでマッチ！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88620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お互いがOKした時だけマッチが成立。マッチ後に相手の顔写真と名前が公開されます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343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🔒 マッチ前はプライバシー保護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6634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マッチするまで顔写真と名前は非公開。こだわりと雰囲気写真だけで判断してください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5303520"/>
            <a:ext cx="7315200" cy="54864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40" y="537667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2400E"/>
                </a:solidFill>
                <a:latin typeface="Yu Gothic"/>
              </a:defRPr>
            </a:pPr>
            <a:r>
              <a:t>💡 「今後表示しない」にチェックすると、次回から表示されません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03 さがす（スワイプ）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カードを左右にスワイプしてランチ仲間を見つけよう！</a:t>
            </a:r>
          </a:p>
        </p:txBody>
      </p:sp>
      <p:pic>
        <p:nvPicPr>
          <p:cNvPr id="5" name="Picture 4" descr="22_filter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2450679" cy="5303520"/>
          </a:xfrm>
          <a:prstGeom prst="rect">
            <a:avLst/>
          </a:prstGeom>
        </p:spPr>
      </p:pic>
      <p:pic>
        <p:nvPicPr>
          <p:cNvPr id="6" name="Picture 5" descr="03_swipe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97280"/>
            <a:ext cx="245067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0" y="1371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スワイプの操作方法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920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Yu Gothic"/>
              </a:defRPr>
            </a:pPr>
            <a:r>
              <a:t>👉 右スワイプ or ♥ボタン = 「いいかも！」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B7280"/>
                </a:solidFill>
                <a:latin typeface="Yu Gothic"/>
              </a:defRPr>
            </a:pPr>
            <a:r>
              <a:t>👈 左スワイプ or ✕ボタン = 「また今度」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9260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カードに表示される情報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雰囲気写真（メイン写真はマッチ後に公開）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7033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所属本部名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0233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共通のこだわり数（オレンジバッジ）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34339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こだわりタグ一覧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6634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自己紹介テキスト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5212080"/>
            <a:ext cx="6400800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528523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1B1B"/>
                </a:solidFill>
                <a:latin typeface="Yu Gothic"/>
              </a:defRPr>
            </a:pPr>
            <a:r>
              <a:t>⚠️ 名前と顔写真はマッチするまで非公開！</a:t>
            </a:r>
            <a:br/>
            <a:r>
              <a:t>   無料会員は1日3回まで（残り回数が画面右上に表示）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04 フィルター機能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条件を指定して、より合うランチ仲間を絞り込み</a:t>
            </a:r>
          </a:p>
        </p:txBody>
      </p:sp>
      <p:pic>
        <p:nvPicPr>
          <p:cNvPr id="5" name="Picture 4" descr="22_filter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フィルターの使い方</a:t>
            </a:r>
          </a:p>
        </p:txBody>
      </p:sp>
      <p:sp>
        <p:nvSpPr>
          <p:cNvPr id="7" name="Oval 6"/>
          <p:cNvSpPr/>
          <p:nvPr/>
        </p:nvSpPr>
        <p:spPr>
          <a:xfrm>
            <a:off x="3840480" y="184708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28800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スワイプ画面右上のフィルターアイコン（●）をタップ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2231136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212848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条件を選択してフィルタリング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2615184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96896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適用中のフィルター数がバッジで表示</a:t>
            </a:r>
          </a:p>
        </p:txBody>
      </p:sp>
      <p:sp>
        <p:nvSpPr>
          <p:cNvPr id="13" name="Oval 12"/>
          <p:cNvSpPr/>
          <p:nvPr/>
        </p:nvSpPr>
        <p:spPr>
          <a:xfrm>
            <a:off x="3840480" y="2999232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980944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「フィルタをリセット」で全解除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74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フィルター条件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Yu Gothic"/>
              </a:defRPr>
            </a:pPr>
            <a:r>
              <a:t>🍴 こだわり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9319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複数選択可（和食, 洋食, 中華, 韓国料理, カレー, ラーメン, 寿司, カフェ, ヘルシー, がっつり, 辛いもの好き, コーヒー好き）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51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Yu Gothic"/>
              </a:defRPr>
            </a:pPr>
            <a:r>
              <a:t>📅 ランチ曜日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月〜金から選択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Yu Gothic"/>
              </a:defRPr>
            </a:pPr>
            <a:r>
              <a:t>🕐 ランチ時間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5720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11:30 / 12:00 / 12:30 / 13:00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920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Yu Gothic"/>
              </a:defRPr>
            </a:pPr>
            <a:r>
              <a:t>💰 ランチ予算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8920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~500円 / ~1000円 / ~1500円 / ~2000円 / こだわりなし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12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Yu Gothic"/>
              </a:defRPr>
            </a:pPr>
            <a:r>
              <a:t>📍 ランチエリア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212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本社周辺 / 駅周辺 / 社食 / テイクアウト / どこでもOK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05 マッチ＆トーク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お互いに「いいかも！」したらマッチ成立！チャットでランチの約束</a:t>
            </a:r>
          </a:p>
        </p:txBody>
      </p:sp>
      <p:pic>
        <p:nvPicPr>
          <p:cNvPr id="5" name="Picture 4" descr="05_m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マッチの仕組み</a:t>
            </a:r>
          </a:p>
        </p:txBody>
      </p:sp>
      <p:sp>
        <p:nvSpPr>
          <p:cNvPr id="7" name="Oval 6"/>
          <p:cNvSpPr/>
          <p:nvPr/>
        </p:nvSpPr>
        <p:spPr>
          <a:xfrm>
            <a:off x="3840480" y="184708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28800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あなたが相手に「いいかも！」を送る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2231136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212848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相手もあなたに「いいかも！」を返す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2615184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96896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マッチ成立！ お祝い画面が表示される</a:t>
            </a:r>
          </a:p>
        </p:txBody>
      </p:sp>
      <p:sp>
        <p:nvSpPr>
          <p:cNvPr id="13" name="Oval 12"/>
          <p:cNvSpPr/>
          <p:nvPr/>
        </p:nvSpPr>
        <p:spPr>
          <a:xfrm>
            <a:off x="3840480" y="2999232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980944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お互いの名前と顔写真が公開される</a:t>
            </a:r>
          </a:p>
        </p:txBody>
      </p:sp>
      <p:sp>
        <p:nvSpPr>
          <p:cNvPr id="15" name="Oval 14"/>
          <p:cNvSpPr/>
          <p:nvPr/>
        </p:nvSpPr>
        <p:spPr>
          <a:xfrm>
            <a:off x="3840480" y="3383280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64992"/>
            <a:ext cx="6995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トーク一覧に表示 →「話す」でチャット開始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トーク画面でできること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3891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マッチした相手の一覧を日付付きで確認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7091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アバター写真をタップ → プロフィール詳細を表示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029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「話す」ボタン → チャット画面へ移動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349239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チャットではサジェスション（定型文）を使って簡単にメッセージ送信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6692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例：「明日ランチ行きませんか？」をワンタップで送信可能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06 お相手から（いいね一覧）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あなたに「いいかも！」してくれた人を確認できます</a:t>
            </a:r>
          </a:p>
        </p:txBody>
      </p:sp>
      <p:pic>
        <p:nvPicPr>
          <p:cNvPr id="5" name="Picture 4" descr="06_l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お相手から機能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11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🔓 いいね見放題パック有効時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37744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あなたにいいねした人が一覧で表示されます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72491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写真・所属・こだわりタグを事前に確認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07238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「いいかも！」→ 即マッチ成立！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1985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「スキップ」→ また今度（パスします）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🔒 無料会員の場合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29768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いいね一覧はロック状態（閲覧不可）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6451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「いいね見放題パック」を有効にすると解放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9926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• パッケージは管理者が付与します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5486400"/>
            <a:ext cx="7315200" cy="54864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40" y="555955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2400E"/>
                </a:solidFill>
                <a:latin typeface="Yu Gothic"/>
              </a:defRPr>
            </a:pPr>
            <a:r>
              <a:t>💡 相手が既にいいねしているので、「いいかも！」すれば即マッチ成立です！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07 マイページ・プロフィール編集</a:t>
            </a:r>
          </a:p>
        </p:txBody>
      </p:sp>
      <p:pic>
        <p:nvPicPr>
          <p:cNvPr id="4" name="Picture 3" descr="07_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2450679" cy="5303520"/>
          </a:xfrm>
          <a:prstGeom prst="rect">
            <a:avLst/>
          </a:prstGeom>
        </p:spPr>
      </p:pic>
      <p:pic>
        <p:nvPicPr>
          <p:cNvPr id="5" name="Picture 4" descr="08_profile_e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97280"/>
            <a:ext cx="2450679" cy="5303520"/>
          </a:xfrm>
          <a:prstGeom prst="rect">
            <a:avLst/>
          </a:prstGeom>
        </p:spPr>
      </p:pic>
      <p:pic>
        <p:nvPicPr>
          <p:cNvPr id="6" name="Picture 5" descr="08_profile_e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245067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Yu Gothic"/>
              </a:defRPr>
            </a:pPr>
            <a:r>
              <a:t>マイページ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288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Yu Gothic"/>
              </a:defRPr>
            </a:pPr>
            <a:r>
              <a:t>• プロフィール写真・名前・所属を確認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59" y="21488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Yu Gothic"/>
              </a:defRPr>
            </a:pPr>
            <a:r>
              <a:t>• 有効なパッケージがバッジで表示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59" y="24688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Yu Gothic"/>
              </a:defRPr>
            </a:pPr>
            <a:r>
              <a:t>• 自己紹介・こだわり・ランチ設定を確認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Yu Gothic"/>
              </a:defRPr>
            </a:pPr>
            <a:r>
              <a:t>プロフィール編集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59" y="3474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右上の「編集」ボタンをタップ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59" y="37490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名前・所属本部を変更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59" y="40233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同じ本部のメンバーを除外するオプション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59" y="429767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こだわりタグを複数選択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59" y="4572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ランチ設定（曜日・時間・予算・エリア）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59" y="48463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自己紹介テキストを入力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59" y="512063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• 右上の「保存」で確定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5669280"/>
            <a:ext cx="4114800" cy="54864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39" y="574243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2400E"/>
                </a:solidFill>
                <a:latin typeface="Yu Gothic"/>
              </a:defRPr>
            </a:pPr>
            <a:r>
              <a:t>💡 写真はマイページの写真エリアをタップして変更できます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08 スワイプ上限＆パッケージ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無料会員とプレミアム機能の違い</a:t>
            </a:r>
          </a:p>
        </p:txBody>
      </p:sp>
      <p:pic>
        <p:nvPicPr>
          <p:cNvPr id="5" name="Picture 4" descr="24_swipe_limit_or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371600"/>
            <a:ext cx="365760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0" y="1371600"/>
            <a:ext cx="365760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🆓 無料会員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✅  1日3回までスワイプ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✅  マッチした相手とチャット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14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✅  プロフィール設定・編集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788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✅  フィルター機能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063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❌  いいね一覧は閲覧不可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❌  3回以上のスワイプ不可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371600"/>
            <a:ext cx="3840480" cy="4572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0" y="1371600"/>
            <a:ext cx="384048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4173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⭐ プレミアム機能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2011680"/>
            <a:ext cx="3474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1031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Yu Gothic"/>
              </a:defRPr>
            </a:pPr>
            <a:r>
              <a:t>🔄 スワイプし放題パック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423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1日の回数制限なし！</a:t>
            </a:r>
            <a:br/>
            <a:r>
              <a:t>何人でもスワイプ可能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291840"/>
            <a:ext cx="3474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Yu Gothic"/>
              </a:defRPr>
            </a:pPr>
            <a:r>
              <a:t>👀 いいね見放題パック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03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Yu Gothic"/>
              </a:defRPr>
            </a:pPr>
            <a:r>
              <a:t>あなたにいいねした人を</a:t>
            </a:r>
            <a:br/>
            <a:r>
              <a:t>一覧で確認・即マッチ可能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※ パッケージは管理者が付与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※ テスト機能のため課金は発生しません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↑ スワイプ上限に達した時の画面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09 管理者ダッシュボード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URL末尾に /admin でアクセス</a:t>
            </a:r>
          </a:p>
        </p:txBody>
      </p:sp>
      <p:pic>
        <p:nvPicPr>
          <p:cNvPr id="5" name="Picture 4" descr="15_admi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2323919" cy="5029200"/>
          </a:xfrm>
          <a:prstGeom prst="rect">
            <a:avLst/>
          </a:prstGeom>
        </p:spPr>
      </p:pic>
      <p:pic>
        <p:nvPicPr>
          <p:cNvPr id="6" name="Picture 5" descr="16_admin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097280"/>
            <a:ext cx="2323919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371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Yu Gothic"/>
              </a:defRPr>
            </a:pPr>
            <a:r>
              <a:t>管理画面へのアクセス</a:t>
            </a:r>
          </a:p>
        </p:txBody>
      </p:sp>
      <p:sp>
        <p:nvSpPr>
          <p:cNvPr id="8" name="Oval 7"/>
          <p:cNvSpPr/>
          <p:nvPr/>
        </p:nvSpPr>
        <p:spPr>
          <a:xfrm>
            <a:off x="5669280" y="184708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2880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ブラウザで /admin にアクセス</a:t>
            </a:r>
          </a:p>
        </p:txBody>
      </p:sp>
      <p:sp>
        <p:nvSpPr>
          <p:cNvPr id="10" name="Oval 9"/>
          <p:cNvSpPr/>
          <p:nvPr/>
        </p:nvSpPr>
        <p:spPr>
          <a:xfrm>
            <a:off x="5669280" y="221284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9456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4桁のパスコードを入力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0" y="257860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56032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ダッシュボードが表示される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108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ダッシュボード概要（タブ一覧）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3566160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358444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概要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844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総ユーザー数・マッチ数・スワイプ数・いいかも率などの統計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913632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9319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ユーザー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931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全ユーザー一覧。パッケージ（スワイプ∞・いいね👀）の付与/解除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4261104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0" y="427939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マッチ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279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全マッチ一覧（誰と誰がマッチしたか）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4608576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462686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スワイプ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6268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全スワイプ履歴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4956048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497433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シミュレーション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9743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テスト用のシミュレーション機能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303520"/>
            <a:ext cx="1097280" cy="2743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53218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  <a:latin typeface="Yu Gothic"/>
              </a:defRPr>
            </a:pPr>
            <a:r>
              <a:t>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データ分析・インサイト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管理者 - ユーザー管理＆パッケージ付与</a:t>
            </a:r>
          </a:p>
        </p:txBody>
      </p:sp>
      <p:pic>
        <p:nvPicPr>
          <p:cNvPr id="4" name="Picture 3" descr="17_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450679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Yu Gothic"/>
              </a:defRPr>
            </a:pPr>
            <a:r>
              <a:t>ユーザー管理でできること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1168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• 登録済みユーザーの一覧を表示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395728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• 各ユーザーの所属本部を確認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77977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• パッケージ（スワイプし放題 / いいね見放題）をワンクリックで付与/解除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163824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Yu Gothic"/>
              </a:defRPr>
            </a:pPr>
            <a:r>
              <a:t>• 変更は即座に反映されます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Yu Gothic"/>
              </a:defRPr>
            </a:pPr>
            <a:r>
              <a:t>パッケージの付与手順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431596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297680"/>
            <a:ext cx="6995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ユーザータブを選択</a:t>
            </a:r>
          </a:p>
        </p:txBody>
      </p:sp>
      <p:sp>
        <p:nvSpPr>
          <p:cNvPr id="13" name="Oval 12"/>
          <p:cNvSpPr/>
          <p:nvPr/>
        </p:nvSpPr>
        <p:spPr>
          <a:xfrm>
            <a:off x="3840480" y="468172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663440"/>
            <a:ext cx="6995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対象ユーザーを探す</a:t>
            </a:r>
          </a:p>
        </p:txBody>
      </p:sp>
      <p:sp>
        <p:nvSpPr>
          <p:cNvPr id="15" name="Oval 14"/>
          <p:cNvSpPr/>
          <p:nvPr/>
        </p:nvSpPr>
        <p:spPr>
          <a:xfrm>
            <a:off x="3840480" y="504748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5029200"/>
            <a:ext cx="6995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「スワイプ付与」または「いいね付与」ボタンをクリック</a:t>
            </a:r>
          </a:p>
        </p:txBody>
      </p:sp>
      <p:sp>
        <p:nvSpPr>
          <p:cNvPr id="17" name="Oval 16"/>
          <p:cNvSpPr/>
          <p:nvPr/>
        </p:nvSpPr>
        <p:spPr>
          <a:xfrm>
            <a:off x="3840480" y="5413248"/>
            <a:ext cx="228600" cy="2286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394960"/>
            <a:ext cx="6995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Yu Gothic"/>
              </a:defRPr>
            </a:pPr>
            <a:r>
              <a:t>ボタンが「解除」に変わり、ユーザーにバッジが付く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各画面の状態表示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Yu Gothic"/>
              </a:defRPr>
            </a:pPr>
            <a:r>
              <a:t>データがない場合の表示</a:t>
            </a:r>
          </a:p>
        </p:txBody>
      </p:sp>
      <p:pic>
        <p:nvPicPr>
          <p:cNvPr id="5" name="Picture 4" descr="04b_after_swi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2112654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035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全員スワイプ済み</a:t>
            </a:r>
          </a:p>
        </p:txBody>
      </p:sp>
      <p:pic>
        <p:nvPicPr>
          <p:cNvPr id="7" name="Picture 6" descr="24_swipe_limit_or_emp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371600"/>
            <a:ext cx="2112654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17520" y="6035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スワイプ上限到達</a:t>
            </a:r>
          </a:p>
        </p:txBody>
      </p:sp>
      <p:pic>
        <p:nvPicPr>
          <p:cNvPr id="9" name="Picture 8" descr="06_lik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371600"/>
            <a:ext cx="2112654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0720" y="6035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いいねなし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Yu Gothic"/>
              </a:defRPr>
            </a:pPr>
            <a:r>
              <a:t>状態メッセージ一覧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945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Yu Gothic"/>
              </a:defRPr>
            </a:pPr>
            <a:r>
              <a:t>プロフィールなし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23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新しいメンバーの</a:t>
            </a:r>
            <a:br/>
            <a:r>
              <a:t>登録をお待ちください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26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Yu Gothic"/>
              </a:defRPr>
            </a:pPr>
            <a:r>
              <a:t>スワイプ上限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154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無料会員は1日3回まで</a:t>
            </a:r>
            <a:br/>
            <a:r>
              <a:t>パック購入で無制限に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657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Yu Gothic"/>
              </a:defRPr>
            </a:pPr>
            <a:r>
              <a:t>いいねなし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886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まだいいねされて</a:t>
            </a:r>
            <a:br/>
            <a:r>
              <a:t>いません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3891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Yu Gothic"/>
              </a:defRPr>
            </a:pPr>
            <a:r>
              <a:t>マッチなし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6177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Yu Gothic"/>
              </a:defRPr>
            </a:pPr>
            <a:r>
              <a:t>まだマッチがありません</a:t>
            </a:r>
            <a:br/>
            <a:r>
              <a:t>スワイプしてみましょう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73152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Yu Gothic"/>
              </a:defRPr>
            </a:pPr>
            <a:r>
              <a:t>よくある質問 (FAQ)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マッチ前に相手の名前は分かりますか？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いいえ。マッチするまで名前と顔写真は非公開です。所属・こだわり・雰囲気写真のみ表示されます。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848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1日に何回スワイプできますか？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048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無料会員は1日3回まで。「スワイプし放題パック」が有効なら無制限です。回数は毎日リセットされます。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9806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いいねした相手を確認できますか？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18104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「いいね見放題パック」が有効な場合のみ、「お相手から」タブで確認できます。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112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プロフィールは後から変更できますか？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831336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はい。マイページの「編集」ボタンから、写真・名前・こだわり・ランチ設定すべて変更可能です。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245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同じ部署の人が表示されます。除外できますか？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445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プロフィール編集で「同じ本部のメンバーを除外する」にチェックすれば非表示になります。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スワイプをやり直せますか？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2578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現在、やり直し機能はありません。慎重にスワイプしてください。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509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Yu Gothic"/>
              </a:defRPr>
            </a:pPr>
            <a:r>
              <a:t>Q. 管理画面にはどうやってアクセスしますか？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710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Yu Gothic"/>
              </a:defRPr>
            </a:pPr>
            <a:r>
              <a:t>A. URL末尾に /admin を追加し、管理者パスコードを入力してください。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7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Yu Gothic"/>
              </a:defRPr>
            </a:pPr>
            <a:r>
              <a:t>さあ、ランチ仲間を見つけましょう！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EDD5"/>
                </a:solidFill>
                <a:latin typeface="Yu Gothic"/>
              </a:defRPr>
            </a:pPr>
            <a:r>
              <a:t>一緒にランチ行きましょう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Yu Gothic"/>
              </a:defRPr>
            </a:pPr>
            <a:r>
              <a:t>https://main.dkcmgnfwojthr.amplifyapp.com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CB4"/>
                </a:solidFill>
                <a:latin typeface="Yu Gothic"/>
              </a:defRPr>
            </a:pPr>
            <a:r>
              <a:t>ご質問やフィードバックは管理者までお気軽にどうぞ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